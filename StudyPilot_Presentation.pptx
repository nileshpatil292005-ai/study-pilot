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b63a985-02f5-84e8-4503-69aef9fe834e}">
          <p14:sldIdLst>
            <p14:sldId id="256"/>
          </p14:sldIdLst>
        </p14:section>
        <p14:section name="The idea" id="{7b80f633-a4ae-84c0-8ebd-cb97e9b14d7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Business" id="{92da3475-2e3b-7aa6-5d38-b29d741f0a61}">
          <p14:sldIdLst>
            <p14:sldId id="263"/>
            <p14:sldId id="264"/>
          </p14:sldIdLst>
        </p14:section>
        <p14:section name="Wrap-up" id="{8b5d2c60-b9cc-9f7c-cb44-fef0761f269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51460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StudyPilot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514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Adaptive practice that finds weak math and science topics and serves the right problems</a:t>
            </a:r>
            <a:endParaRPr lang="en-US" sz="2000" dirty="0"/>
          </a:p>
        </p:txBody>
      </p:sp>
      <p:sp>
        <p:nvSpPr>
          <p:cNvPr id="4" name="Event label"/>
          <p:cNvSpPr txBox="1"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IBM SkillsBuild Masterclass 5 | Creating Real Life Projects</a:t>
            </a:r>
            <a:endParaRPr lang="en-US" sz="1400" dirty="0"/>
          </a:p>
        </p:txBody>
      </p:sp>
      <p:sp>
        <p:nvSpPr>
          <p:cNvPr id="5" name="Learning path circle"/>
          <p:cNvSpPr/>
          <p:nvPr/>
        </p:nvSpPr>
        <p:spPr>
          <a:xfrm>
            <a:off x="7223760" y="155448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Learning path icon" descr="Learning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8745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37160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ame work for all 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ame work for all icon" descr="Same work for 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6" name="Same work for all heading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Same work for all</a:t>
            </a:r>
            <a:endParaRPr lang="en-US" sz="1800" dirty="0"/>
          </a:p>
        </p:txBody>
      </p:sp>
      <p:sp>
        <p:nvSpPr>
          <p:cNvPr id="7" name="Same work for all text"/>
          <p:cNvSpPr txBox="1"/>
          <p:nvPr/>
        </p:nvSpPr>
        <p:spPr>
          <a:xfrm>
            <a:off x="73152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Everyone gets the same exercises, whatever they have already mastered.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37160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o topic view circle"/>
          <p:cNvSpPr/>
          <p:nvPr/>
        </p:nvSpPr>
        <p:spPr>
          <a:xfrm>
            <a:off x="34747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o topic view icon" descr="No topic 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714500"/>
            <a:ext cx="320040" cy="320040"/>
          </a:xfrm>
          <a:prstGeom prst="rect">
            <a:avLst/>
          </a:prstGeom>
        </p:spPr>
      </p:pic>
      <p:sp>
        <p:nvSpPr>
          <p:cNvPr id="11" name="No topic view heading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topic view</a:t>
            </a:r>
            <a:endParaRPr lang="en-US" sz="1800" dirty="0"/>
          </a:p>
        </p:txBody>
      </p:sp>
      <p:sp>
        <p:nvSpPr>
          <p:cNvPr id="12" name="No topic view text"/>
          <p:cNvSpPr txBox="1"/>
          <p:nvPr/>
        </p:nvSpPr>
        <p:spPr>
          <a:xfrm>
            <a:off x="347472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Teachers cannot track every student's results topic by topic.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035040" y="1371600"/>
            <a:ext cx="2560320" cy="26974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Late discovery circle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ate discovery icon" descr="Late discove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714500"/>
            <a:ext cx="320040" cy="320040"/>
          </a:xfrm>
          <a:prstGeom prst="rect">
            <a:avLst/>
          </a:prstGeom>
        </p:spPr>
      </p:pic>
      <p:sp>
        <p:nvSpPr>
          <p:cNvPr id="16" name="Late discovery heading"/>
          <p:cNvSpPr txBox="1"/>
          <p:nvPr/>
        </p:nvSpPr>
        <p:spPr>
          <a:xfrm>
            <a:off x="62179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Late discovery</a:t>
            </a:r>
            <a:endParaRPr lang="en-US" sz="1800" dirty="0"/>
          </a:p>
        </p:txBody>
      </p:sp>
      <p:sp>
        <p:nvSpPr>
          <p:cNvPr id="17" name="Late discovery text"/>
          <p:cNvSpPr txBox="1"/>
          <p:nvPr/>
        </p:nvSpPr>
        <p:spPr>
          <a:xfrm>
            <a:off x="621792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find out about weak topics only at exam time.</a:t>
            </a:r>
            <a:endParaRPr lang="en-US" sz="1400" dirty="0"/>
          </a:p>
        </p:txBody>
      </p:sp>
      <p:sp>
        <p:nvSpPr>
          <p:cNvPr id="18" name="Alternatives note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Today: textbook exercises, generic quiz apps, coaching classes and manual teacher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it is for</a:t>
            </a:r>
            <a:endParaRPr lang="en-US" sz="3600" dirty="0"/>
          </a:p>
        </p:txBody>
      </p:sp>
      <p:sp>
        <p:nvSpPr>
          <p:cNvPr id="3" name="Students row"/>
          <p:cNvSpPr/>
          <p:nvPr/>
        </p:nvSpPr>
        <p:spPr>
          <a:xfrm>
            <a:off x="548640" y="1325880"/>
            <a:ext cx="804672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udents circle"/>
          <p:cNvSpPr/>
          <p:nvPr/>
        </p:nvSpPr>
        <p:spPr>
          <a:xfrm>
            <a:off x="731520" y="147218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udents icon" descr="Stud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9344"/>
            <a:ext cx="274320" cy="274320"/>
          </a:xfrm>
          <a:prstGeom prst="rect">
            <a:avLst/>
          </a:prstGeom>
        </p:spPr>
      </p:pic>
      <p:sp>
        <p:nvSpPr>
          <p:cNvPr id="6" name="Students heading"/>
          <p:cNvSpPr txBox="1"/>
          <p:nvPr/>
        </p:nvSpPr>
        <p:spPr>
          <a:xfrm>
            <a:off x="1508760" y="13990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</a:t>
            </a:r>
            <a:endParaRPr lang="en-US" sz="1800" dirty="0"/>
          </a:p>
        </p:txBody>
      </p:sp>
      <p:sp>
        <p:nvSpPr>
          <p:cNvPr id="7" name="Students text"/>
          <p:cNvSpPr txBox="1"/>
          <p:nvPr/>
        </p:nvSpPr>
        <p:spPr>
          <a:xfrm>
            <a:off x="3840480" y="1399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Grade 8 to 12 students practising math and science, especially for board exams.</a:t>
            </a:r>
            <a:endParaRPr lang="en-US" sz="1400" dirty="0"/>
          </a:p>
        </p:txBody>
      </p:sp>
      <p:sp>
        <p:nvSpPr>
          <p:cNvPr id="8" name="Teachers row"/>
          <p:cNvSpPr/>
          <p:nvPr/>
        </p:nvSpPr>
        <p:spPr>
          <a:xfrm>
            <a:off x="548640" y="2304288"/>
            <a:ext cx="804672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achers circle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eachers icon" descr="Teach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87752"/>
            <a:ext cx="274320" cy="274320"/>
          </a:xfrm>
          <a:prstGeom prst="rect">
            <a:avLst/>
          </a:prstGeom>
        </p:spPr>
      </p:pic>
      <p:sp>
        <p:nvSpPr>
          <p:cNvPr id="11" name="Teachers heading"/>
          <p:cNvSpPr txBox="1"/>
          <p:nvPr/>
        </p:nvSpPr>
        <p:spPr>
          <a:xfrm>
            <a:off x="1508760" y="237744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Teachers</a:t>
            </a:r>
            <a:endParaRPr lang="en-US" sz="1800" dirty="0"/>
          </a:p>
        </p:txBody>
      </p:sp>
      <p:sp>
        <p:nvSpPr>
          <p:cNvPr id="12" name="Teachers text"/>
          <p:cNvSpPr txBox="1"/>
          <p:nvPr/>
        </p:nvSpPr>
        <p:spPr>
          <a:xfrm>
            <a:off x="3840480" y="237744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Teachers who want topic-level results without marking every quiz by hand.</a:t>
            </a:r>
            <a:endParaRPr lang="en-US" sz="1400" dirty="0"/>
          </a:p>
        </p:txBody>
      </p:sp>
      <p:sp>
        <p:nvSpPr>
          <p:cNvPr id="13" name="Early adopters row"/>
          <p:cNvSpPr/>
          <p:nvPr/>
        </p:nvSpPr>
        <p:spPr>
          <a:xfrm>
            <a:off x="548640" y="3282696"/>
            <a:ext cx="804672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arly adopters circle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Early adopters icon" descr="Early adopt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66160"/>
            <a:ext cx="274320" cy="274320"/>
          </a:xfrm>
          <a:prstGeom prst="rect">
            <a:avLst/>
          </a:prstGeom>
        </p:spPr>
      </p:pic>
      <p:sp>
        <p:nvSpPr>
          <p:cNvPr id="16" name="Early adopters heading"/>
          <p:cNvSpPr txBox="1"/>
          <p:nvPr/>
        </p:nvSpPr>
        <p:spPr>
          <a:xfrm>
            <a:off x="1508760" y="335584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Early adopters</a:t>
            </a:r>
            <a:endParaRPr lang="en-US" sz="1800" dirty="0"/>
          </a:p>
        </p:txBody>
      </p:sp>
      <p:sp>
        <p:nvSpPr>
          <p:cNvPr id="17" name="Early adopters text"/>
          <p:cNvSpPr txBox="1"/>
          <p:nvPr/>
        </p:nvSpPr>
        <p:spPr>
          <a:xfrm>
            <a:off x="3840480" y="335584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 9 and 10 students and the schools and coaching centres serving them.</a:t>
            </a:r>
            <a:endParaRPr lang="en-US" sz="1400" dirty="0"/>
          </a:p>
        </p:txBody>
      </p:sp>
      <p:sp>
        <p:nvSpPr>
          <p:cNvPr id="18" name="Secondary users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Secondary users: tutors and parents.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3" name="Quiz tracking circle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Quiz tracking icon" descr="Quiz trac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320040" cy="320040"/>
          </a:xfrm>
          <a:prstGeom prst="rect">
            <a:avLst/>
          </a:prstGeom>
        </p:spPr>
      </p:pic>
      <p:sp>
        <p:nvSpPr>
          <p:cNvPr id="5" name="Quiz tracking text"/>
          <p:cNvSpPr txBox="1"/>
          <p:nvPr/>
        </p:nvSpPr>
        <p:spPr>
          <a:xfrm>
            <a:off x="1417320" y="1371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Quiz tracking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Logs every answer by student, topic and difficulty.</a:t>
            </a:r>
            <a:endParaRPr lang="en-US" sz="1800" dirty="0"/>
          </a:p>
        </p:txBody>
      </p:sp>
      <p:sp>
        <p:nvSpPr>
          <p:cNvPr id="6" name="Weak-topic detection circle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Weak-topic detection icon" descr="Weak-topic de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628900"/>
            <a:ext cx="320040" cy="320040"/>
          </a:xfrm>
          <a:prstGeom prst="rect">
            <a:avLst/>
          </a:prstGeom>
        </p:spPr>
      </p:pic>
      <p:sp>
        <p:nvSpPr>
          <p:cNvPr id="8" name="Weak-topic detection text"/>
          <p:cNvSpPr txBox="1"/>
          <p:nvPr/>
        </p:nvSpPr>
        <p:spPr>
          <a:xfrm>
            <a:off x="1417320" y="24231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Weak-topic detection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mastery model scores each topic and flags the weakest.</a:t>
            </a:r>
            <a:endParaRPr lang="en-US" sz="1800" dirty="0"/>
          </a:p>
        </p:txBody>
      </p:sp>
      <p:sp>
        <p:nvSpPr>
          <p:cNvPr id="9" name="Personalised practice circle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ersonalised practice icon" descr="Personalised pract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680460"/>
            <a:ext cx="320040" cy="320040"/>
          </a:xfrm>
          <a:prstGeom prst="rect">
            <a:avLst/>
          </a:prstGeom>
        </p:spPr>
      </p:pic>
      <p:sp>
        <p:nvSpPr>
          <p:cNvPr id="11" name="Personalised practice text"/>
          <p:cNvSpPr txBox="1"/>
          <p:nvPr/>
        </p:nvSpPr>
        <p:spPr>
          <a:xfrm>
            <a:off x="141732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Personalised practice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Serves the next problems at the right level for each topic.</a:t>
            </a:r>
            <a:endParaRPr lang="en-US" sz="1800" dirty="0"/>
          </a:p>
        </p:txBody>
      </p:sp>
      <p:sp>
        <p:nvSpPr>
          <p:cNvPr id="12" name="Kiosk panel"/>
          <p:cNvSpPr/>
          <p:nvPr/>
        </p:nvSpPr>
        <p:spPr>
          <a:xfrm>
            <a:off x="6126480" y="1371600"/>
            <a:ext cx="2468880" cy="306324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Kiosk tagline"/>
          <p:cNvSpPr txBox="1"/>
          <p:nvPr/>
        </p:nvSpPr>
        <p:spPr>
          <a:xfrm>
            <a:off x="6355080" y="1554480"/>
            <a:ext cx="2011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quiz.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weak topics.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 smarter.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onnector"/>
          <p:cNvSpPr/>
          <p:nvPr/>
        </p:nvSpPr>
        <p:spPr>
          <a:xfrm>
            <a:off x="1353312" y="1691640"/>
            <a:ext cx="643737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1033272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103327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ake a quiz heading"/>
          <p:cNvSpPr txBox="1"/>
          <p:nvPr/>
        </p:nvSpPr>
        <p:spPr>
          <a:xfrm>
            <a:off x="594360" y="21945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Take a quiz</a:t>
            </a:r>
            <a:endParaRPr lang="en-US" sz="1800" dirty="0"/>
          </a:p>
        </p:txBody>
      </p:sp>
      <p:sp>
        <p:nvSpPr>
          <p:cNvPr id="7" name="Take a quiz text"/>
          <p:cNvSpPr txBox="1"/>
          <p:nvPr/>
        </p:nvSpPr>
        <p:spPr>
          <a:xfrm>
            <a:off x="640080" y="260604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 answers questions on a math or science topic.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2642616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tep number 2"/>
          <p:cNvSpPr txBox="1"/>
          <p:nvPr/>
        </p:nvSpPr>
        <p:spPr>
          <a:xfrm>
            <a:off x="264261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rack heading"/>
          <p:cNvSpPr txBox="1"/>
          <p:nvPr/>
        </p:nvSpPr>
        <p:spPr>
          <a:xfrm>
            <a:off x="2203704" y="21945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Track</a:t>
            </a:r>
            <a:endParaRPr lang="en-US" sz="1800" dirty="0"/>
          </a:p>
        </p:txBody>
      </p:sp>
      <p:sp>
        <p:nvSpPr>
          <p:cNvPr id="11" name="Track text"/>
          <p:cNvSpPr txBox="1"/>
          <p:nvPr/>
        </p:nvSpPr>
        <p:spPr>
          <a:xfrm>
            <a:off x="2249424" y="260604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answer is logged by topic and difficulty.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Step number 3"/>
          <p:cNvSpPr txBox="1"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Find gaps heading"/>
          <p:cNvSpPr txBox="1"/>
          <p:nvPr/>
        </p:nvSpPr>
        <p:spPr>
          <a:xfrm>
            <a:off x="3813048" y="21945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Find gaps</a:t>
            </a:r>
            <a:endParaRPr lang="en-US" sz="1800" dirty="0"/>
          </a:p>
        </p:txBody>
      </p:sp>
      <p:sp>
        <p:nvSpPr>
          <p:cNvPr id="15" name="Find gaps text"/>
          <p:cNvSpPr txBox="1"/>
          <p:nvPr/>
        </p:nvSpPr>
        <p:spPr>
          <a:xfrm>
            <a:off x="3858768" y="260604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model estimates mastery for each topic.</a:t>
            </a:r>
            <a:endParaRPr lang="en-US" sz="1400" dirty="0"/>
          </a:p>
        </p:txBody>
      </p:sp>
      <p:sp>
        <p:nvSpPr>
          <p:cNvPr id="16" name="Step 4"/>
          <p:cNvSpPr/>
          <p:nvPr/>
        </p:nvSpPr>
        <p:spPr>
          <a:xfrm>
            <a:off x="5861304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Step number 4"/>
          <p:cNvSpPr txBox="1"/>
          <p:nvPr/>
        </p:nvSpPr>
        <p:spPr>
          <a:xfrm>
            <a:off x="586130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Serve heading"/>
          <p:cNvSpPr txBox="1"/>
          <p:nvPr/>
        </p:nvSpPr>
        <p:spPr>
          <a:xfrm>
            <a:off x="5422392" y="21945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Serve</a:t>
            </a:r>
            <a:endParaRPr lang="en-US" sz="1800" dirty="0"/>
          </a:p>
        </p:txBody>
      </p:sp>
      <p:sp>
        <p:nvSpPr>
          <p:cNvPr id="19" name="Serve text"/>
          <p:cNvSpPr txBox="1"/>
          <p:nvPr/>
        </p:nvSpPr>
        <p:spPr>
          <a:xfrm>
            <a:off x="5468112" y="260604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 problems match the weak topics and level.</a:t>
            </a:r>
            <a:endParaRPr lang="en-US" sz="1400" dirty="0"/>
          </a:p>
        </p:txBody>
      </p:sp>
      <p:sp>
        <p:nvSpPr>
          <p:cNvPr id="20" name="Step 5"/>
          <p:cNvSpPr/>
          <p:nvPr/>
        </p:nvSpPr>
        <p:spPr>
          <a:xfrm>
            <a:off x="7470648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Step number 5"/>
          <p:cNvSpPr txBox="1"/>
          <p:nvPr/>
        </p:nvSpPr>
        <p:spPr>
          <a:xfrm>
            <a:off x="747064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Re-measure heading"/>
          <p:cNvSpPr txBox="1"/>
          <p:nvPr/>
        </p:nvSpPr>
        <p:spPr>
          <a:xfrm>
            <a:off x="7031736" y="219456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Re-measure</a:t>
            </a:r>
            <a:endParaRPr lang="en-US" sz="1800" dirty="0"/>
          </a:p>
        </p:txBody>
      </p:sp>
      <p:sp>
        <p:nvSpPr>
          <p:cNvPr id="23" name="Re-measure text"/>
          <p:cNvSpPr txBox="1"/>
          <p:nvPr/>
        </p:nvSpPr>
        <p:spPr>
          <a:xfrm>
            <a:off x="7077456" y="260604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answers update mastery and the dashboards.</a:t>
            </a:r>
            <a:endParaRPr lang="en-US" sz="1400" dirty="0"/>
          </a:p>
        </p:txBody>
      </p:sp>
      <p:sp>
        <p:nvSpPr>
          <p:cNvPr id="24" name="Fallback note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Fallback text"/>
          <p:cNvSpPr txBox="1"/>
          <p:nvPr/>
        </p:nvSpPr>
        <p:spPr>
          <a:xfrm>
            <a:off x="731520" y="39776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students start with a short diagnostic quiz so the first recommendations are useful.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</a:t>
            </a:r>
            <a:endParaRPr lang="en-US" sz="3600" dirty="0"/>
          </a:p>
        </p:txBody>
      </p:sp>
      <p:sp>
        <p:nvSpPr>
          <p:cNvPr id="3" name="DATA card"/>
          <p:cNvSpPr/>
          <p:nvPr/>
        </p:nvSpPr>
        <p:spPr>
          <a:xfrm>
            <a:off x="548640" y="132588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ATA circle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ATA icon" descr="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04772"/>
            <a:ext cx="228600" cy="228600"/>
          </a:xfrm>
          <a:prstGeom prst="rect">
            <a:avLst/>
          </a:prstGeom>
        </p:spPr>
      </p:pic>
      <p:sp>
        <p:nvSpPr>
          <p:cNvPr id="6" name="DATA label"/>
          <p:cNvSpPr txBox="1"/>
          <p:nvPr/>
        </p:nvSpPr>
        <p:spPr>
          <a:xfrm>
            <a:off x="1325880" y="1490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DATA</a:t>
            </a:r>
            <a:endParaRPr lang="en-US" sz="1200" dirty="0"/>
          </a:p>
        </p:txBody>
      </p:sp>
      <p:sp>
        <p:nvSpPr>
          <p:cNvPr id="7" name="DATA tool"/>
          <p:cNvSpPr txBox="1"/>
          <p:nvPr/>
        </p:nvSpPr>
        <p:spPr>
          <a:xfrm>
            <a:off x="731520" y="2039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SQLite / PostgreSQL</a:t>
            </a:r>
            <a:endParaRPr lang="en-US" sz="1600" dirty="0"/>
          </a:p>
        </p:txBody>
      </p:sp>
      <p:sp>
        <p:nvSpPr>
          <p:cNvPr id="8" name="DATA description"/>
          <p:cNvSpPr txBox="1"/>
          <p:nvPr/>
        </p:nvSpPr>
        <p:spPr>
          <a:xfrm>
            <a:off x="731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Students, attempts, topics and difficulty</a:t>
            </a:r>
            <a:endParaRPr lang="en-US" sz="1200" dirty="0"/>
          </a:p>
        </p:txBody>
      </p:sp>
      <p:sp>
        <p:nvSpPr>
          <p:cNvPr id="9" name="MASTERY MODEL card"/>
          <p:cNvSpPr/>
          <p:nvPr/>
        </p:nvSpPr>
        <p:spPr>
          <a:xfrm>
            <a:off x="3291840" y="132588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MASTERY MODEL circle"/>
          <p:cNvSpPr/>
          <p:nvPr/>
        </p:nvSpPr>
        <p:spPr>
          <a:xfrm>
            <a:off x="3474720" y="1490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ASTERY MODEL icon" descr="MASTERY MOD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604772"/>
            <a:ext cx="228600" cy="228600"/>
          </a:xfrm>
          <a:prstGeom prst="rect">
            <a:avLst/>
          </a:prstGeom>
        </p:spPr>
      </p:pic>
      <p:sp>
        <p:nvSpPr>
          <p:cNvPr id="12" name="MASTERY MODEL label"/>
          <p:cNvSpPr txBox="1"/>
          <p:nvPr/>
        </p:nvSpPr>
        <p:spPr>
          <a:xfrm>
            <a:off x="4069080" y="1490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MASTERY MODEL</a:t>
            </a:r>
            <a:endParaRPr lang="en-US" sz="1200" dirty="0"/>
          </a:p>
        </p:txBody>
      </p:sp>
      <p:sp>
        <p:nvSpPr>
          <p:cNvPr id="13" name="MASTERY MODEL tool"/>
          <p:cNvSpPr txBox="1"/>
          <p:nvPr/>
        </p:nvSpPr>
        <p:spPr>
          <a:xfrm>
            <a:off x="3474720" y="2039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Knowledge tracing</a:t>
            </a:r>
            <a:endParaRPr lang="en-US" sz="1600" dirty="0"/>
          </a:p>
        </p:txBody>
      </p:sp>
      <p:sp>
        <p:nvSpPr>
          <p:cNvPr id="14" name="MASTERY MODEL description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Rule-based score first, then Bayesian tracing</a:t>
            </a:r>
            <a:endParaRPr lang="en-US" sz="1200" dirty="0"/>
          </a:p>
        </p:txBody>
      </p:sp>
      <p:sp>
        <p:nvSpPr>
          <p:cNvPr id="15" name="RECOMMENDER card"/>
          <p:cNvSpPr/>
          <p:nvPr/>
        </p:nvSpPr>
        <p:spPr>
          <a:xfrm>
            <a:off x="6035040" y="132588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RECOMMENDER circle"/>
          <p:cNvSpPr/>
          <p:nvPr/>
        </p:nvSpPr>
        <p:spPr>
          <a:xfrm>
            <a:off x="6217920" y="1490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COMMENDER icon" descr="RECOMMEN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604772"/>
            <a:ext cx="228600" cy="228600"/>
          </a:xfrm>
          <a:prstGeom prst="rect">
            <a:avLst/>
          </a:prstGeom>
        </p:spPr>
      </p:pic>
      <p:sp>
        <p:nvSpPr>
          <p:cNvPr id="18" name="RECOMMENDER label"/>
          <p:cNvSpPr txBox="1"/>
          <p:nvPr/>
        </p:nvSpPr>
        <p:spPr>
          <a:xfrm>
            <a:off x="6812280" y="14904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RECOMMENDER</a:t>
            </a:r>
            <a:endParaRPr lang="en-US" sz="1200" dirty="0"/>
          </a:p>
        </p:txBody>
      </p:sp>
      <p:sp>
        <p:nvSpPr>
          <p:cNvPr id="19" name="RECOMMENDER tool"/>
          <p:cNvSpPr txBox="1"/>
          <p:nvPr/>
        </p:nvSpPr>
        <p:spPr>
          <a:xfrm>
            <a:off x="6217920" y="2039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+ scikit-learn</a:t>
            </a:r>
            <a:endParaRPr lang="en-US" sz="1600" dirty="0"/>
          </a:p>
        </p:txBody>
      </p:sp>
      <p:sp>
        <p:nvSpPr>
          <p:cNvPr id="20" name="RECOMMENDER description"/>
          <p:cNvSpPr txBox="1"/>
          <p:nvPr/>
        </p:nvSpPr>
        <p:spPr>
          <a:xfrm>
            <a:off x="62179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Picks problems for weak topics and level</a:t>
            </a:r>
            <a:endParaRPr lang="en-US" sz="1200" dirty="0"/>
          </a:p>
        </p:txBody>
      </p:sp>
      <p:sp>
        <p:nvSpPr>
          <p:cNvPr id="21" name="QUESTIONS card"/>
          <p:cNvSpPr/>
          <p:nvPr/>
        </p:nvSpPr>
        <p:spPr>
          <a:xfrm>
            <a:off x="5486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QUESTIONS circle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QUESTIONS icon" descr="QUES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159252"/>
            <a:ext cx="228600" cy="228600"/>
          </a:xfrm>
          <a:prstGeom prst="rect">
            <a:avLst/>
          </a:prstGeom>
        </p:spPr>
      </p:pic>
      <p:sp>
        <p:nvSpPr>
          <p:cNvPr id="24" name="QUESTIONS label"/>
          <p:cNvSpPr txBox="1"/>
          <p:nvPr/>
        </p:nvSpPr>
        <p:spPr>
          <a:xfrm>
            <a:off x="1325880" y="3044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QUESTIONS</a:t>
            </a:r>
            <a:endParaRPr lang="en-US" sz="1200" dirty="0"/>
          </a:p>
        </p:txBody>
      </p:sp>
      <p:sp>
        <p:nvSpPr>
          <p:cNvPr id="25" name="QUESTIONS tool"/>
          <p:cNvSpPr txBox="1"/>
          <p:nvPr/>
        </p:nvSpPr>
        <p:spPr>
          <a:xfrm>
            <a:off x="73152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Tagged question bank</a:t>
            </a:r>
            <a:endParaRPr lang="en-US" sz="1600" dirty="0"/>
          </a:p>
        </p:txBody>
      </p:sp>
      <p:sp>
        <p:nvSpPr>
          <p:cNvPr id="26" name="QUESTIONS description"/>
          <p:cNvSpPr txBox="1"/>
          <p:nvPr/>
        </p:nvSpPr>
        <p:spPr>
          <a:xfrm>
            <a:off x="7315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Topic, difficulty and worked solution</a:t>
            </a:r>
            <a:endParaRPr lang="en-US" sz="1200" dirty="0"/>
          </a:p>
        </p:txBody>
      </p:sp>
      <p:sp>
        <p:nvSpPr>
          <p:cNvPr id="27" name="BACKEND card"/>
          <p:cNvSpPr/>
          <p:nvPr/>
        </p:nvSpPr>
        <p:spPr>
          <a:xfrm>
            <a:off x="32918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BACKEND circle"/>
          <p:cNvSpPr/>
          <p:nvPr/>
        </p:nvSpPr>
        <p:spPr>
          <a:xfrm>
            <a:off x="3474720" y="3044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BACKEND icon" descr="BACK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59252"/>
            <a:ext cx="228600" cy="228600"/>
          </a:xfrm>
          <a:prstGeom prst="rect">
            <a:avLst/>
          </a:prstGeom>
        </p:spPr>
      </p:pic>
      <p:sp>
        <p:nvSpPr>
          <p:cNvPr id="30" name="BACKEND label"/>
          <p:cNvSpPr txBox="1"/>
          <p:nvPr/>
        </p:nvSpPr>
        <p:spPr>
          <a:xfrm>
            <a:off x="4069080" y="3044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BACKEND</a:t>
            </a:r>
            <a:endParaRPr lang="en-US" sz="1200" dirty="0"/>
          </a:p>
        </p:txBody>
      </p:sp>
      <p:sp>
        <p:nvSpPr>
          <p:cNvPr id="31" name="BACKEND tool"/>
          <p:cNvSpPr txBox="1"/>
          <p:nvPr/>
        </p:nvSpPr>
        <p:spPr>
          <a:xfrm>
            <a:off x="347472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FastAPI</a:t>
            </a:r>
            <a:endParaRPr lang="en-US" sz="1600" dirty="0"/>
          </a:p>
        </p:txBody>
      </p:sp>
      <p:sp>
        <p:nvSpPr>
          <p:cNvPr id="32" name="BACKEND description"/>
          <p:cNvSpPr txBox="1"/>
          <p:nvPr/>
        </p:nvSpPr>
        <p:spPr>
          <a:xfrm>
            <a:off x="34747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Serves quizzes and recommendations</a:t>
            </a:r>
            <a:endParaRPr lang="en-US" sz="1200" dirty="0"/>
          </a:p>
        </p:txBody>
      </p:sp>
      <p:sp>
        <p:nvSpPr>
          <p:cNvPr id="33" name="DASHBOARD card"/>
          <p:cNvSpPr/>
          <p:nvPr/>
        </p:nvSpPr>
        <p:spPr>
          <a:xfrm>
            <a:off x="6035040" y="288036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DASHBOARD circle"/>
          <p:cNvSpPr/>
          <p:nvPr/>
        </p:nvSpPr>
        <p:spPr>
          <a:xfrm>
            <a:off x="6217920" y="30449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DASHBOARD icon" descr="DASHBO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159252"/>
            <a:ext cx="228600" cy="228600"/>
          </a:xfrm>
          <a:prstGeom prst="rect">
            <a:avLst/>
          </a:prstGeom>
        </p:spPr>
      </p:pic>
      <p:sp>
        <p:nvSpPr>
          <p:cNvPr id="36" name="DASHBOARD label"/>
          <p:cNvSpPr txBox="1"/>
          <p:nvPr/>
        </p:nvSpPr>
        <p:spPr>
          <a:xfrm>
            <a:off x="6812280" y="3044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7" name="DASHBOARD tool"/>
          <p:cNvSpPr txBox="1"/>
          <p:nvPr/>
        </p:nvSpPr>
        <p:spPr>
          <a:xfrm>
            <a:off x="6217920" y="3593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Streamlit</a:t>
            </a:r>
            <a:endParaRPr lang="en-US" sz="1600" dirty="0"/>
          </a:p>
        </p:txBody>
      </p:sp>
      <p:sp>
        <p:nvSpPr>
          <p:cNvPr id="38" name="DASHBOARD description"/>
          <p:cNvSpPr txBox="1"/>
          <p:nvPr/>
        </p:nvSpPr>
        <p:spPr>
          <a:xfrm>
            <a:off x="62179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Progress for students and teachers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we compare</a:t>
            </a:r>
            <a:endParaRPr lang="en-US" sz="36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1732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Textbook homework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Generic quiz app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Private tutor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StudyPilot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Adapts to each student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Rarely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Instant feedback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Progress by topic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Partly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Informally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Cost per student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Qualitative comparison based on typical setups.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Business model</a:t>
            </a:r>
            <a:endParaRPr lang="en-US" sz="3600" dirty="0"/>
          </a:p>
        </p:txBody>
      </p:sp>
      <p:sp>
        <p:nvSpPr>
          <p:cNvPr id="3" name="Free tier card"/>
          <p:cNvSpPr/>
          <p:nvPr/>
        </p:nvSpPr>
        <p:spPr>
          <a:xfrm>
            <a:off x="548640" y="132588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ree tier heading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Free tier</a:t>
            </a:r>
            <a:endParaRPr lang="en-US" sz="1800" dirty="0"/>
          </a:p>
        </p:txBody>
      </p:sp>
      <p:sp>
        <p:nvSpPr>
          <p:cNvPr id="5" name="Free tier text"/>
          <p:cNvSpPr txBox="1"/>
          <p:nvPr/>
        </p:nvSpPr>
        <p:spPr>
          <a:xfrm>
            <a:off x="73152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Limited daily practice for every student.</a:t>
            </a:r>
            <a:endParaRPr lang="en-US" sz="1400" dirty="0"/>
          </a:p>
        </p:txBody>
      </p:sp>
      <p:sp>
        <p:nvSpPr>
          <p:cNvPr id="6" name="Premium card"/>
          <p:cNvSpPr/>
          <p:nvPr/>
        </p:nvSpPr>
        <p:spPr>
          <a:xfrm>
            <a:off x="3291840" y="132588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Premium heading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Premium</a:t>
            </a:r>
            <a:endParaRPr lang="en-US" sz="1800" dirty="0"/>
          </a:p>
        </p:txBody>
      </p:sp>
      <p:sp>
        <p:nvSpPr>
          <p:cNvPr id="8" name="Premium text"/>
          <p:cNvSpPr txBox="1"/>
          <p:nvPr/>
        </p:nvSpPr>
        <p:spPr>
          <a:xfrm>
            <a:off x="347472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Unlimited practice, detailed reports and revision plans.</a:t>
            </a:r>
            <a:endParaRPr lang="en-US" sz="1400" dirty="0"/>
          </a:p>
        </p:txBody>
      </p:sp>
      <p:sp>
        <p:nvSpPr>
          <p:cNvPr id="9" name="School licence card"/>
          <p:cNvSpPr/>
          <p:nvPr/>
        </p:nvSpPr>
        <p:spPr>
          <a:xfrm>
            <a:off x="6035040" y="1325880"/>
            <a:ext cx="256032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chool licence heading"/>
          <p:cNvSpPr txBox="1"/>
          <p:nvPr/>
        </p:nvSpPr>
        <p:spPr>
          <a:xfrm>
            <a:off x="62179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School licence</a:t>
            </a:r>
            <a:endParaRPr lang="en-US" sz="1800" dirty="0"/>
          </a:p>
        </p:txBody>
      </p:sp>
      <p:sp>
        <p:nvSpPr>
          <p:cNvPr id="11" name="School licence text"/>
          <p:cNvSpPr txBox="1"/>
          <p:nvPr/>
        </p:nvSpPr>
        <p:spPr>
          <a:xfrm>
            <a:off x="621792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Teacher dashboard, class analytics and curriculum-aligned question banks.</a:t>
            </a:r>
            <a:endParaRPr lang="en-US" sz="1400" dirty="0"/>
          </a:p>
        </p:txBody>
      </p:sp>
      <p:sp>
        <p:nvSpPr>
          <p:cNvPr id="12" name="Costs panel"/>
          <p:cNvSpPr/>
          <p:nvPr/>
        </p:nvSpPr>
        <p:spPr>
          <a:xfrm>
            <a:off x="548640" y="3291840"/>
            <a:ext cx="80467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Costs text"/>
          <p:cNvSpPr txBox="1"/>
          <p:nvPr/>
        </p:nvSpPr>
        <p:spPr>
          <a:xfrm>
            <a:off x="777240" y="32918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costs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Cloud hosting, question-bank creation and review, development and model work, school outreach and data security.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Metrics and impact</a:t>
            </a:r>
            <a:endParaRPr lang="en-US" sz="3600" dirty="0"/>
          </a:p>
        </p:txBody>
      </p:sp>
      <p:sp>
        <p:nvSpPr>
          <p:cNvPr id="3" name="Metrics card"/>
          <p:cNvSpPr/>
          <p:nvPr/>
        </p:nvSpPr>
        <p:spPr>
          <a:xfrm>
            <a:off x="548640" y="1325880"/>
            <a:ext cx="384048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arget stat"/>
          <p:cNvSpPr txBox="1"/>
          <p:nvPr/>
        </p:nvSpPr>
        <p:spPr>
          <a:xfrm>
            <a:off x="777240" y="1417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topic</a:t>
            </a:r>
            <a:endParaRPr lang="en-US" sz="4400" dirty="0"/>
          </a:p>
        </p:txBody>
      </p:sp>
      <p:sp>
        <p:nvSpPr>
          <p:cNvPr id="5" name="Target label"/>
          <p:cNvSpPr txBox="1"/>
          <p:nvPr/>
        </p:nvSpPr>
        <p:spPr>
          <a:xfrm>
            <a:off x="7772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mastery tracked for every student</a:t>
            </a:r>
            <a:endParaRPr lang="en-US" sz="1400" dirty="0"/>
          </a:p>
        </p:txBody>
      </p:sp>
      <p:sp>
        <p:nvSpPr>
          <p:cNvPr id="6" name="Metric list"/>
          <p:cNvSpPr txBox="1"/>
          <p:nvPr/>
        </p:nvSpPr>
        <p:spPr>
          <a:xfrm>
            <a:off x="777240" y="26974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Quiz score improvement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Weekly active learners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Free-to-paid conversion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Schools onboarded</a:t>
            </a:r>
            <a:endParaRPr lang="en-US" sz="1400" dirty="0"/>
          </a:p>
        </p:txBody>
      </p:sp>
      <p:sp>
        <p:nvSpPr>
          <p:cNvPr id="7" name="Impact card"/>
          <p:cNvSpPr/>
          <p:nvPr/>
        </p:nvSpPr>
        <p:spPr>
          <a:xfrm>
            <a:off x="4572000" y="1325880"/>
            <a:ext cx="402336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mpact heading"/>
          <p:cNvSpPr txBox="1"/>
          <p:nvPr/>
        </p:nvSpPr>
        <p:spPr>
          <a:xfrm>
            <a:off x="480060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Expected impact</a:t>
            </a:r>
            <a:endParaRPr lang="en-US" sz="2000" dirty="0"/>
          </a:p>
        </p:txBody>
      </p:sp>
      <p:sp>
        <p:nvSpPr>
          <p:cNvPr id="9" name="Impact list"/>
          <p:cNvSpPr txBox="1"/>
          <p:nvPr/>
        </p:nvSpPr>
        <p:spPr>
          <a:xfrm>
            <a:off x="480060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Practice time goes to the topics students find hardest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Teachers see class-wide weak topics without manual marking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Gaps are found early, not at exam time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Students build steady study habits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Risks and next steps</a:t>
            </a:r>
            <a:endParaRPr lang="en-US" sz="3600" dirty="0"/>
          </a:p>
        </p:txBody>
      </p:sp>
      <p:sp>
        <p:nvSpPr>
          <p:cNvPr id="3" name="Risks heading"/>
          <p:cNvSpPr txBox="1"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Risks and mitigation</a:t>
            </a:r>
            <a:endParaRPr lang="en-US" sz="1800" dirty="0"/>
          </a:p>
        </p:txBody>
      </p:sp>
      <p:sp>
        <p:nvSpPr>
          <p:cNvPr id="4" name="Roadmap heading"/>
          <p:cNvSpPr txBox="1"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Four-week roadmap</a:t>
            </a:r>
            <a:endParaRPr lang="en-US" sz="1800" dirty="0"/>
          </a:p>
        </p:txBody>
      </p:sp>
      <p:sp>
        <p:nvSpPr>
          <p:cNvPr id="5" name="Cold start risk card"/>
          <p:cNvSpPr/>
          <p:nvPr/>
        </p:nvSpPr>
        <p:spPr>
          <a:xfrm>
            <a:off x="548640" y="1645920"/>
            <a:ext cx="39319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old start risk text"/>
          <p:cNvSpPr txBox="1"/>
          <p:nvPr/>
        </p:nvSpPr>
        <p:spPr>
          <a:xfrm>
            <a:off x="731520" y="16459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Cold 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 diagnostic quiz for new students.</a:t>
            </a:r>
            <a:endParaRPr lang="en-US" sz="1400" dirty="0"/>
          </a:p>
        </p:txBody>
      </p:sp>
      <p:sp>
        <p:nvSpPr>
          <p:cNvPr id="7" name="Student privacy risk card"/>
          <p:cNvSpPr/>
          <p:nvPr/>
        </p:nvSpPr>
        <p:spPr>
          <a:xfrm>
            <a:off x="548640" y="2560320"/>
            <a:ext cx="39319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udent privacy risk text"/>
          <p:cNvSpPr txBox="1"/>
          <p:nvPr/>
        </p:nvSpPr>
        <p:spPr>
          <a:xfrm>
            <a:off x="731520" y="25603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Student privacy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only what is needed; get school and parent consent.</a:t>
            </a:r>
            <a:endParaRPr lang="en-US" sz="1400" dirty="0"/>
          </a:p>
        </p:txBody>
      </p:sp>
      <p:sp>
        <p:nvSpPr>
          <p:cNvPr id="9" name="Question quality risk card"/>
          <p:cNvSpPr/>
          <p:nvPr/>
        </p:nvSpPr>
        <p:spPr>
          <a:xfrm>
            <a:off x="548640" y="3474720"/>
            <a:ext cx="3931920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Question quality risk text"/>
          <p:cNvSpPr txBox="1"/>
          <p:nvPr/>
        </p:nvSpPr>
        <p:spPr>
          <a:xfrm>
            <a:off x="731520" y="347472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Question 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Teacher-reviewed bank tagged by topic and difficulty.</a:t>
            </a:r>
            <a:endParaRPr lang="en-US" sz="1400" dirty="0"/>
          </a:p>
        </p:txBody>
      </p:sp>
      <p:sp>
        <p:nvSpPr>
          <p:cNvPr id="11" name="Week 1"/>
          <p:cNvSpPr/>
          <p:nvPr/>
        </p:nvSpPr>
        <p:spPr>
          <a:xfrm>
            <a:off x="4663440" y="168249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Week label 1"/>
          <p:cNvSpPr txBox="1"/>
          <p:nvPr/>
        </p:nvSpPr>
        <p:spPr>
          <a:xfrm>
            <a:off x="4663440" y="1682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W1</a:t>
            </a:r>
            <a:endParaRPr lang="en-US" sz="1400" dirty="0"/>
          </a:p>
        </p:txBody>
      </p:sp>
      <p:sp>
        <p:nvSpPr>
          <p:cNvPr id="13" name="Week text 1"/>
          <p:cNvSpPr txBox="1"/>
          <p:nvPr/>
        </p:nvSpPr>
        <p:spPr>
          <a:xfrm>
            <a:off x="5349240" y="1645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 bank and quiz logging</a:t>
            </a:r>
            <a:endParaRPr lang="en-US" sz="1400" dirty="0"/>
          </a:p>
        </p:txBody>
      </p:sp>
      <p:sp>
        <p:nvSpPr>
          <p:cNvPr id="14" name="Week 2"/>
          <p:cNvSpPr/>
          <p:nvPr/>
        </p:nvSpPr>
        <p:spPr>
          <a:xfrm>
            <a:off x="4663440" y="241401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Week label 2"/>
          <p:cNvSpPr txBox="1"/>
          <p:nvPr/>
        </p:nvSpPr>
        <p:spPr>
          <a:xfrm>
            <a:off x="466344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W2</a:t>
            </a:r>
            <a:endParaRPr lang="en-US" sz="1400" dirty="0"/>
          </a:p>
        </p:txBody>
      </p:sp>
      <p:sp>
        <p:nvSpPr>
          <p:cNvPr id="16" name="Week text 2"/>
          <p:cNvSpPr txBox="1"/>
          <p:nvPr/>
        </p:nvSpPr>
        <p:spPr>
          <a:xfrm>
            <a:off x="5349240" y="2377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Mastery score for each topic</a:t>
            </a:r>
            <a:endParaRPr lang="en-US" sz="1400" dirty="0"/>
          </a:p>
        </p:txBody>
      </p:sp>
      <p:sp>
        <p:nvSpPr>
          <p:cNvPr id="17" name="Week 3"/>
          <p:cNvSpPr/>
          <p:nvPr/>
        </p:nvSpPr>
        <p:spPr>
          <a:xfrm>
            <a:off x="4663440" y="314553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Week label 3"/>
          <p:cNvSpPr txBox="1"/>
          <p:nvPr/>
        </p:nvSpPr>
        <p:spPr>
          <a:xfrm>
            <a:off x="466344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W3</a:t>
            </a:r>
            <a:endParaRPr lang="en-US" sz="1400" dirty="0"/>
          </a:p>
        </p:txBody>
      </p:sp>
      <p:sp>
        <p:nvSpPr>
          <p:cNvPr id="19" name="Week text 3"/>
          <p:cNvSpPr txBox="1"/>
          <p:nvPr/>
        </p:nvSpPr>
        <p:spPr>
          <a:xfrm>
            <a:off x="5349240" y="3108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Recommender serves next problems</a:t>
            </a:r>
            <a:endParaRPr lang="en-US" sz="1400" dirty="0"/>
          </a:p>
        </p:txBody>
      </p:sp>
      <p:sp>
        <p:nvSpPr>
          <p:cNvPr id="20" name="Week 4"/>
          <p:cNvSpPr/>
          <p:nvPr/>
        </p:nvSpPr>
        <p:spPr>
          <a:xfrm>
            <a:off x="4663440" y="387705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Week label 4"/>
          <p:cNvSpPr txBox="1"/>
          <p:nvPr/>
        </p:nvSpPr>
        <p:spPr>
          <a:xfrm>
            <a:off x="466344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W4</a:t>
            </a:r>
            <a:endParaRPr lang="en-US" sz="1400" dirty="0"/>
          </a:p>
        </p:txBody>
      </p:sp>
      <p:sp>
        <p:nvSpPr>
          <p:cNvPr id="22" name="Week text 4"/>
          <p:cNvSpPr txBox="1"/>
          <p:nvPr/>
        </p:nvSpPr>
        <p:spPr>
          <a:xfrm>
            <a:off x="5349240" y="38404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and test with students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Pilot">
  <a:themeElements>
    <a:clrScheme name="StudyPilot">
      <a:dk1>
        <a:srgbClr val="1B2A32"/>
      </a:dk1>
      <a:lt1>
        <a:srgbClr val="FFFFFF"/>
      </a:lt1>
      <a:dk2>
        <a:srgbClr val="0B3C49"/>
      </a:dk2>
      <a:lt2>
        <a:srgbClr val="EAF3F5"/>
      </a:lt2>
      <a:accent1>
        <a:srgbClr val="028090"/>
      </a:accent1>
      <a:accent2>
        <a:srgbClr val="F2A541"/>
      </a:accent2>
      <a:accent3>
        <a:srgbClr val="02C39A"/>
      </a:accent3>
      <a:accent4>
        <a:srgbClr val="E4572E"/>
      </a:accent4>
      <a:accent5>
        <a:srgbClr val="5B7C8D"/>
      </a:accent5>
      <a:accent6>
        <a:srgbClr val="A7C4CC"/>
      </a:accent6>
      <a:hlink>
        <a:srgbClr val="028090"/>
      </a:hlink>
      <a:folHlink>
        <a:srgbClr val="5B7C8D"/>
      </a:folHlink>
    </a:clrScheme>
    <a:fontScheme name="StudyPil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StudyPilot: Adaptive Practice for Math and Science</dc:title>
  <dc:subject>PptxGenJS Presentation</dc:subject>
  <dc:creator>PptxGenJS</dc:creator>
  <cp:lastModifiedBy>PptxGenJS</cp:lastModifiedBy>
  <cp:revision>1</cp:revision>
  <dcterms:created xsi:type="dcterms:W3CDTF">2026-10-15T11:40:51Z</dcterms:created>
  <dcterms:modified xsi:type="dcterms:W3CDTF">2026-10-15T11:40:51Z</dcterms:modified>
</cp:coreProperties>
</file>